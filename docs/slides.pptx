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NDIC + IADI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5D4F4"/>
                </a:solidFill>
              </a:rPr>
              <a:t>Deposit Insurance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Benchmarking Nigeria's NDIC Against IADI Core Principles
and Peer Member DICs (2010–2024)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Promise O. Amhanesi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CEE"/>
                </a:solidFill>
              </a:rPr>
              <a:t>Banking &amp; Finance · Philomath University Abuja | AMHANi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D9E75"/>
                </a:solidFill>
              </a:rPr>
              <a:t>github.com/HELLO-AMHANI/ndic-iadi-deposit-insurance-analysis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Why benchmarking NDIC against IADI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6B"/>
                </a:solidFill>
              </a:rPr>
              <a:t>→  Nigeria's NDIC protects depositors in 26 commercial banks but how robust is the fund?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6B"/>
                </a:solidFill>
              </a:rPr>
              <a:t>→  IADI publishes Core Principles for Effective Deposit Insurance: the global standard.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6B"/>
                </a:solidFill>
              </a:rPr>
              <a:t>→  No peer-reviewed quantitative benchmarking of NDIC against IADI exists for 2010–2024.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3A6B"/>
                </a:solidFill>
              </a:rPr>
              <a:t>→  This project fills that gap using Python, SQL, Excel,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2. IADI Core Principles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The 7 principles this project benchmarks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Public Policy Objectives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0972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88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691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Mandate &amp; Powers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0972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188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6916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Safety-Net Relationships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260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520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Membership &amp;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9260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017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20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Fund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754880"/>
            <a:ext cx="34747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846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</a:rPr>
              <a:t>CP7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349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Public 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3. Data 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Cross-functional: Python · SQL · Excel ·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NDIC Annual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BAD"/>
                </a:solidFill>
              </a:rPr>
              <a:t>ndic.gov.ng/publications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2010–2024 · 15 rows · manually extracted from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11430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IADI Annual Survey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BAD"/>
                </a:solidFill>
              </a:rPr>
              <a:t>iadi.org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14 member countries · 15 years · 210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World Bank GFDD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BAD"/>
                </a:solidFill>
              </a:rPr>
              <a:t>databank.worldbank.org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319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GDP growth, inflation, FX rate, GDP per capita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199"/>
            <a:ext cx="11430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CBN Stat. Bulletin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BAD"/>
                </a:solidFill>
              </a:rPr>
              <a:t>cbn.gov.ng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79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Banking sector credit, monetary policy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4. EDA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Key patterns in NDIC fund performance 2010–2024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pic>
        <p:nvPicPr>
          <p:cNvPr id="7" name="Picture 6" descr="01_fund_vs_claims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Key Finding: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• Fund grew 7.7× from ₦295bn (2010) to ₦2,279bn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1460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• Claims flat at ~₦8.3bn per year from 2012–2023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8328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• 2024: claims spike to ₦63.2bn — Naira devaluation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251959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• 2016 oil crisis and 2020 COVID visible in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1206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• Premium rate stable: 0.40–0.64% of total deposits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5. IADI Benchmarking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NDIC scored 1–5 against each IADI Core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pic>
        <p:nvPicPr>
          <p:cNvPr id="7" name="Picture 6" descr="06_radar_iadi_benchma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2617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0" y="1097280"/>
            <a:ext cx="5394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704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CP1: Policy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17043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4/5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1704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✅ Above avg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65376"/>
            <a:ext cx="5394960" cy="685800"/>
          </a:xfrm>
          <a:prstGeom prst="rect">
            <a:avLst/>
          </a:prstGeom>
          <a:solidFill>
            <a:srgbClr val="F2F5F9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CP2: Mandate &amp; Powers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385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4/5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✅ Above 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33472"/>
            <a:ext cx="5394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066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CP3: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066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3/5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7066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⚠️ Below avg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401568"/>
            <a:ext cx="5394960" cy="685800"/>
          </a:xfrm>
          <a:prstGeom prst="rect">
            <a:avLst/>
          </a:prstGeom>
          <a:solidFill>
            <a:srgbClr val="F2F5F9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CP4: Safety-Net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4/5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✅ Above avg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169663"/>
            <a:ext cx="5394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428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CP5: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2428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3/5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242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🔴 Below avg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937760"/>
            <a:ext cx="5394960" cy="685800"/>
          </a:xfrm>
          <a:prstGeom prst="rect">
            <a:avLst/>
          </a:prstGeom>
          <a:solidFill>
            <a:srgbClr val="F2F5F9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010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CP6: Fund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0109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50109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✅ Above avg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705856"/>
            <a:ext cx="5394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7790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CP7: Public Awareness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779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</a:rPr>
              <a:t>3/5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57790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9E75"/>
                </a:solidFill>
              </a:rPr>
              <a:t>⚠️ Below avg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6. Predictive Modeling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Fund stress classification train 2010–2019, test 2020–2024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pic>
        <p:nvPicPr>
          <p:cNvPr id="7" name="Picture 6" descr="08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44346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097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</a:rPr>
              <a:t>Model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5303520" cy="411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1764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1600200"/>
            <a:ext cx="1764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LR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1600200"/>
            <a:ext cx="1764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5303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2996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AUC-ROC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02996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02996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606039"/>
            <a:ext cx="5303520" cy="594360"/>
          </a:xfrm>
          <a:prstGeom prst="rect">
            <a:avLst/>
          </a:prstGeom>
          <a:solidFill>
            <a:srgbClr val="F2F5F9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67004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67004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7004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246120"/>
            <a:ext cx="5303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1012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31012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31012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3886200"/>
            <a:ext cx="5303520" cy="594360"/>
          </a:xfrm>
          <a:prstGeom prst="rect">
            <a:avLst/>
          </a:prstGeom>
          <a:solidFill>
            <a:srgbClr val="F2F5F9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5020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LOO CV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95020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950208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3A6B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3300"/>
                </a:solidFill>
              </a:rPr>
              <a:t>⚠️ Small sample (n=14) — results are indicative, not definitive.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</a:rPr>
              <a:t>Paste your actual metrics from results/model_metrics.csv into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7. SHAP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Top predictors of fund stress machine learning transparency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pic>
        <p:nvPicPr>
          <p:cNvPr id="7" name="Picture 6" descr="11_shap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44636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097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</a:rPr>
              <a:t>Top 3 drivers of fund stress: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600200"/>
            <a:ext cx="5029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642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9E75"/>
                </a:solidFill>
              </a:rPr>
              <a:t>1st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642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Exchange Rate (lag 1yr)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574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Naira depreciation in prior year
predicts fund stress the next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108960"/>
            <a:ext cx="5029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1729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9E75"/>
                </a:solidFill>
              </a:rPr>
              <a:t>2nd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729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GDP Growth (lag 1yr)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5661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Economic recession = rising NPLs
and claims pressure on NDIC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617720"/>
            <a:ext cx="5029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681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9E75"/>
                </a:solidFill>
              </a:rPr>
              <a:t>3rd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681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Inflation (lag 1yr)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3A6B"/>
                </a:solidFill>
              </a:rPr>
              <a:t>High inflation erodes depositor
real returns and bank profitability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8.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Transparent about what the data can and cannot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338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⚠️  Small sample: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6187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15 annual observations results indicative, not statistically definitive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11338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⚠️  Manual extraction: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6771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NDIC data extracted from PDF reports minor variance 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11338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735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⚠️  2024 IADI divergence: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7355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IADI-reported FAR (0.47) vs local (0.09) currency timing issue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11338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793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⚠️  Loan ratio gap: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7939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4 years show &gt;5% LDR gap — NDIC uses net loans, data uses gross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12080"/>
            <a:ext cx="113385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2E6B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85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</a:rPr>
              <a:t>⚠️  Peer coverage: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285232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3A6B"/>
                </a:solidFill>
              </a:rPr>
              <a:t>Only 14 of 82 IADI member countries available in public survey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9–10. Policy Recommendations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5D4F4"/>
                </a:solidFill>
              </a:rPr>
              <a:t>What NDIC and policymakers should do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Promise O. Amhanesi | NDIC + IADI Analysis | 2024–25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772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1.  Anchor FAR floor of 0.20 in statute to formalise fund adequacy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7772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2.  Index coverage limit to GDP per capita annually prevent real erosion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39"/>
            <a:ext cx="7772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1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3.  Publish annual FX stress test: fund adequacy at 30%, 50%, 70% devaluation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7772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4.  Reform governance: fixed staggered board terms, supermajority removal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77724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645152"/>
            <a:ext cx="7406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3A6B"/>
                </a:solidFill>
              </a:rPr>
              <a:t>5.  Rural depositor awareness campaign especially microfinance bank clients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097280"/>
            <a:ext cx="3566160" cy="5029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Promise O. Amhanesi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76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Banking &amp;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15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Philomath University Abuja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0540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930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AMHANi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37083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GitHub: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8097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D9E75"/>
                </a:solidFill>
              </a:rPr>
              <a:t>HELLO-AMHANI/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2486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D9E75"/>
                </a:solidFill>
              </a:rPr>
              <a:t>ndic-iadi-deposit-insurance-analysis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